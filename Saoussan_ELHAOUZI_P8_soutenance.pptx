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83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131" autoAdjust="0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9319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1828800" cy="1828800"/>
          </a:xfrm>
          <a:prstGeom prst="ellipse">
            <a:avLst/>
          </a:prstGeom>
          <a:solidFill>
            <a:srgbClr val="1A1A1A">
              <a:alpha val="20000"/>
            </a:srgbClr>
          </a:solidFill>
          <a:ln w="254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955280" y="3657600"/>
            <a:ext cx="1645920" cy="1645920"/>
          </a:xfrm>
          <a:prstGeom prst="ellipse">
            <a:avLst/>
          </a:prstGeom>
          <a:solidFill>
            <a:srgbClr val="4A5C2A">
              <a:alpha val="20000"/>
            </a:srgbClr>
          </a:solidFill>
          <a:ln w="19050">
            <a:solidFill>
              <a:srgbClr val="4A5C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82880" y="274320"/>
            <a:ext cx="4114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0" dirty="0">
                <a:solidFill>
                  <a:srgbClr val="000000"/>
                </a:solidFill>
              </a:rPr>
              <a:t>🍎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4572000" y="640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D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 PROJET 8 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0" y="1097280"/>
            <a:ext cx="4297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un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6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dans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6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cloud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0" y="365760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Haouzi </a:t>
            </a:r>
            <a:r>
              <a:rPr lang="en-US" sz="1700" i="1" dirty="0" err="1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Saoussan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0" y="41148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OpenClassrooms — Data Scientist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8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365760"/>
            <a:ext cx="1645920" cy="1645920"/>
          </a:xfrm>
          <a:prstGeom prst="ellipse">
            <a:avLst/>
          </a:prstGeom>
          <a:solidFill>
            <a:srgbClr val="1A1A1A">
              <a:alpha val="15000"/>
            </a:srgbClr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046720" y="3840480"/>
            <a:ext cx="1463040" cy="1463040"/>
          </a:xfrm>
          <a:prstGeom prst="ellipse">
            <a:avLst/>
          </a:prstGeom>
          <a:solidFill>
            <a:srgbClr val="3D4A22">
              <a:alpha val="15000"/>
            </a:srgbClr>
          </a:solidFill>
          <a:ln w="19050">
            <a:solidFill>
              <a:srgbClr val="3D4A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&gt;&gt;&gt;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0" y="182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6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320040" cy="320040"/>
          </a:xfrm>
          <a:prstGeom prst="ellipse">
            <a:avLst/>
          </a:prstGeom>
          <a:solidFill>
            <a:srgbClr val="4A5C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051560" y="111556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  Problématique et jeu de données  (3 min)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801368"/>
            <a:ext cx="320040" cy="320040"/>
          </a:xfrm>
          <a:prstGeom prst="ellipse">
            <a:avLst/>
          </a:prstGeom>
          <a:solidFill>
            <a:srgbClr val="4A5C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051560" y="177393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 Création de l'environnement Big Data  (6 min)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459736"/>
            <a:ext cx="320040" cy="320040"/>
          </a:xfrm>
          <a:prstGeom prst="ellipse">
            <a:avLst/>
          </a:prstGeom>
          <a:solidFill>
            <a:srgbClr val="4A5C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051560" y="243230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Chaîne de traitement des images  (6 min)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118104"/>
            <a:ext cx="320040" cy="320040"/>
          </a:xfrm>
          <a:prstGeom prst="ellipse">
            <a:avLst/>
          </a:prstGeom>
          <a:solidFill>
            <a:srgbClr val="4A5C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1051560" y="309067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 Démonstration sur le cloud  (2 min)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776472"/>
            <a:ext cx="320040" cy="320040"/>
          </a:xfrm>
          <a:prstGeom prst="ellipse">
            <a:avLst/>
          </a:prstGeom>
          <a:solidFill>
            <a:srgbClr val="4A5C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1051560" y="374904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  Synthèse et conclusion  (3 min)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32320" y="91440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dirty="0">
                <a:solidFill>
                  <a:srgbClr val="000000"/>
                </a:solidFill>
              </a:rPr>
              <a:t>🍇</a:t>
            </a:r>
            <a:endParaRPr lang="en-US" sz="9000" dirty="0"/>
          </a:p>
        </p:txBody>
      </p:sp>
      <p:sp>
        <p:nvSpPr>
          <p:cNvPr id="17" name="Shape 15"/>
          <p:cNvSpPr/>
          <p:nvPr/>
        </p:nvSpPr>
        <p:spPr>
          <a:xfrm>
            <a:off x="6949440" y="2651760"/>
            <a:ext cx="1920240" cy="548640"/>
          </a:xfrm>
          <a:prstGeom prst="rect">
            <a:avLst/>
          </a:prstGeom>
          <a:solidFill>
            <a:srgbClr val="6B1C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949440" y="2651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Fruits!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0" dirty="0">
                <a:solidFill>
                  <a:srgbClr val="000000"/>
                </a:solidFill>
              </a:rPr>
              <a:t>🍐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-274320" y="-274320"/>
            <a:ext cx="1828800" cy="1828800"/>
          </a:xfrm>
          <a:prstGeom prst="ellipse">
            <a:avLst/>
          </a:prstGeom>
          <a:solidFill>
            <a:srgbClr val="FFFFFF">
              <a:alpha val="20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772400" y="3474720"/>
            <a:ext cx="1828800" cy="1828800"/>
          </a:xfrm>
          <a:prstGeom prst="ellipse">
            <a:avLst/>
          </a:prstGeom>
          <a:solidFill>
            <a:srgbClr val="4A5C2A">
              <a:alpha val="25000"/>
            </a:srgbClr>
          </a:solidFill>
          <a:ln w="19050">
            <a:solidFill>
              <a:srgbClr val="4A5C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Problématique</a:t>
            </a:r>
            <a:endParaRPr lang="en-US" sz="5000" dirty="0"/>
          </a:p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jeu de données</a:t>
            </a:r>
            <a:endParaRPr lang="en-US" sz="5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8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371600" cy="1371600"/>
          </a:xfrm>
          <a:prstGeom prst="ellipse">
            <a:avLst/>
          </a:prstGeom>
          <a:solidFill>
            <a:srgbClr val="6B1C1C">
              <a:alpha val="15000"/>
            </a:srgbClr>
          </a:solidFill>
          <a:ln w="19050">
            <a:solidFill>
              <a:srgbClr val="6B1C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229600" y="3931920"/>
            <a:ext cx="1280160" cy="1280160"/>
          </a:xfrm>
          <a:prstGeom prst="ellipse">
            <a:avLst/>
          </a:prstGeom>
          <a:solidFill>
            <a:srgbClr val="4A5C2A">
              <a:alpha val="25000"/>
            </a:srgbClr>
          </a:solidFill>
          <a:ln w="19050">
            <a:solidFill>
              <a:srgbClr val="4A5C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&gt;&gt;&gt;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0" y="164592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&amp; Mission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393192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02920" y="84124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Fruits !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38912" y="1389888"/>
            <a:ext cx="3657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Start-up AgriTech qui veut préserver la biodiversité des fruits en développant des robots cueilleurs intelligents.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application mobile permettrait aux utilisateurs de prendre en photo un fruit et d'obtenir des informations sur ce fruit.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 construit la 1ère version de l'architecture Big Data nécessaire.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914400"/>
            <a:ext cx="393192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138928" y="84124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mission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74920" y="1389888"/>
            <a:ext cx="3703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M'approprier le notebook de l'alternant et compléter la chaîne de traitement 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Ajouter une étape de réduction de dimension PCA en PySpark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Comprendre et expliquer le broadcast des poids (prévu pour EMR)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Déployer sur AWS en région européenne (RGPD)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8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365760"/>
            <a:ext cx="1645920" cy="1645920"/>
          </a:xfrm>
          <a:prstGeom prst="ellipse">
            <a:avLst/>
          </a:prstGeom>
          <a:solidFill>
            <a:srgbClr val="1A1A1A">
              <a:alpha val="15000"/>
            </a:srgbClr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046720" y="3840480"/>
            <a:ext cx="1463040" cy="1463040"/>
          </a:xfrm>
          <a:prstGeom prst="ellipse">
            <a:avLst/>
          </a:prstGeom>
          <a:solidFill>
            <a:srgbClr val="3D4A22">
              <a:alpha val="15000"/>
            </a:srgbClr>
          </a:solidFill>
          <a:ln w="19050">
            <a:solidFill>
              <a:srgbClr val="3D4A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D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des données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572000" cy="1170432"/>
          </a:xfrm>
          <a:prstGeom prst="rect">
            <a:avLst/>
          </a:prstGeom>
          <a:solidFill>
            <a:srgbClr val="3D4A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11480" y="98755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issues de Kaggle — Fruits 360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335024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90 423 images — 131 classes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2 jeux : training (67 692) et test (22 688)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167128"/>
            <a:ext cx="4572000" cy="1920240"/>
          </a:xfrm>
          <a:prstGeom prst="rect">
            <a:avLst/>
          </a:prstGeom>
          <a:solidFill>
            <a:srgbClr val="4A5C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11480" y="22677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 dossiers 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60604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Un fruit ou légume par dossier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Fond blanc — 100×100 pixels JPG RGB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Plusieurs variétés pour certains fruits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Images sous 3 axes différents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3D4A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🍋  🍎  🍊  🍇  🍒  🥭  🍐  🍌  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0" dirty="0">
                <a:solidFill>
                  <a:srgbClr val="000000"/>
                </a:solidFill>
              </a:rPr>
              <a:t>🔧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-274320" y="-274320"/>
            <a:ext cx="1828800" cy="1828800"/>
          </a:xfrm>
          <a:prstGeom prst="ellipse">
            <a:avLst/>
          </a:prstGeom>
          <a:solidFill>
            <a:srgbClr val="FFFFFF">
              <a:alpha val="20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772400" y="3474720"/>
            <a:ext cx="1828800" cy="1828800"/>
          </a:xfrm>
          <a:prstGeom prst="ellipse">
            <a:avLst/>
          </a:prstGeom>
          <a:solidFill>
            <a:srgbClr val="4A5C2A">
              <a:alpha val="25000"/>
            </a:srgbClr>
          </a:solidFill>
          <a:ln w="19050">
            <a:solidFill>
              <a:srgbClr val="4A5C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Création de</a:t>
            </a:r>
            <a:endParaRPr lang="en-US" sz="5000" dirty="0"/>
          </a:p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l'environnement Big Data</a:t>
            </a:r>
            <a:endParaRPr lang="en-US" sz="5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365760"/>
            <a:ext cx="1645920" cy="1645920"/>
          </a:xfrm>
          <a:prstGeom prst="ellipse">
            <a:avLst/>
          </a:prstGeom>
          <a:solidFill>
            <a:srgbClr val="1A1A1A">
              <a:alpha val="15000"/>
            </a:srgbClr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046720" y="3840480"/>
            <a:ext cx="1463040" cy="1463040"/>
          </a:xfrm>
          <a:prstGeom prst="ellipse">
            <a:avLst/>
          </a:prstGeom>
          <a:solidFill>
            <a:srgbClr val="3D4A22">
              <a:alpha val="15000"/>
            </a:srgbClr>
          </a:solidFill>
          <a:ln w="19050">
            <a:solidFill>
              <a:srgbClr val="3D4A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un environnement BIG DATA 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56032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560320" cy="5029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Volume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664208"/>
            <a:ext cx="2286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90 000+ images aujourd'hui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Montée en charge très rapide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livraison du projet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56032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91840" y="1051560"/>
            <a:ext cx="2560320" cy="5029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291840" y="1051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Velocity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1664208"/>
            <a:ext cx="2286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continu de nouvelles photos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l'application mobile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réel potentiel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56032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560320" cy="5029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126480" y="1051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Variety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1664208"/>
            <a:ext cx="2286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divers (app mobile)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JPG, PNG, résolutions variées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hétérogènes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8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371600" cy="1371600"/>
          </a:xfrm>
          <a:prstGeom prst="ellipse">
            <a:avLst/>
          </a:prstGeom>
          <a:solidFill>
            <a:srgbClr val="6B1C1C">
              <a:alpha val="15000"/>
            </a:srgbClr>
          </a:solidFill>
          <a:ln w="19050">
            <a:solidFill>
              <a:srgbClr val="6B1C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229600" y="3931920"/>
            <a:ext cx="1280160" cy="1280160"/>
          </a:xfrm>
          <a:prstGeom prst="ellipse">
            <a:avLst/>
          </a:prstGeom>
          <a:solidFill>
            <a:srgbClr val="4A5C2A">
              <a:alpha val="25000"/>
            </a:srgbClr>
          </a:solidFill>
          <a:ln w="19050">
            <a:solidFill>
              <a:srgbClr val="4A5C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le calcul distribué 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01168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10698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Program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1645920" cy="594360"/>
          </a:xfrm>
          <a:prstGeom prst="rect">
            <a:avLst/>
          </a:prstGeom>
          <a:solidFill>
            <a:srgbClr val="3D4A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48640" y="166420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SparkContext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0" y="1371600"/>
            <a:ext cx="228600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4A5C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926080" y="1389888"/>
            <a:ext cx="2286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 — données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découpées en partitions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960120"/>
            <a:ext cx="2743200" cy="114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943600" y="9784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307592"/>
            <a:ext cx="1170432" cy="530352"/>
          </a:xfrm>
          <a:prstGeom prst="rect">
            <a:avLst/>
          </a:prstGeom>
          <a:solidFill>
            <a:srgbClr val="EDE8E0"/>
          </a:solidFill>
          <a:ln w="1016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035040" y="1307592"/>
            <a:ext cx="1170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 Task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0" y="1307592"/>
            <a:ext cx="1170432" cy="530352"/>
          </a:xfrm>
          <a:prstGeom prst="rect">
            <a:avLst/>
          </a:prstGeom>
          <a:solidFill>
            <a:srgbClr val="EDE8E0"/>
          </a:solidFill>
          <a:ln w="1016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7315200" y="1307592"/>
            <a:ext cx="1170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0" y="2331720"/>
            <a:ext cx="2743200" cy="114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943600" y="23500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2679192"/>
            <a:ext cx="1170432" cy="530352"/>
          </a:xfrm>
          <a:prstGeom prst="rect">
            <a:avLst/>
          </a:prstGeom>
          <a:solidFill>
            <a:srgbClr val="EDE8E0"/>
          </a:solidFill>
          <a:ln w="1016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035040" y="2679192"/>
            <a:ext cx="1170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 Task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0" y="2679192"/>
            <a:ext cx="1170432" cy="530352"/>
          </a:xfrm>
          <a:prstGeom prst="rect">
            <a:avLst/>
          </a:prstGeom>
          <a:solidFill>
            <a:srgbClr val="EDE8E0"/>
          </a:solidFill>
          <a:ln w="1016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7315200" y="2679192"/>
            <a:ext cx="1170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77440" y="1600200"/>
            <a:ext cx="54864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5212080" y="1536192"/>
            <a:ext cx="731520" cy="0"/>
          </a:xfrm>
          <a:prstGeom prst="line">
            <a:avLst/>
          </a:prstGeom>
          <a:noFill/>
          <a:ln w="19050">
            <a:solidFill>
              <a:srgbClr val="D462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5212080" y="1536192"/>
            <a:ext cx="731520" cy="1024128"/>
          </a:xfrm>
          <a:prstGeom prst="line">
            <a:avLst/>
          </a:prstGeom>
          <a:noFill/>
          <a:ln w="19050">
            <a:solidFill>
              <a:srgbClr val="D462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2651760" y="7498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Agrégation résultats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51760" y="29718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Agrégation résultats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703320"/>
            <a:ext cx="8595360" cy="566928"/>
          </a:xfrm>
          <a:prstGeom prst="rect">
            <a:avLst/>
          </a:prstGeom>
          <a:solidFill>
            <a:srgbClr val="3D4A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11480" y="373075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Chaque cœur du processeur est traité comme un worker — simulation d'un cluster en local[*]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E8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AWS utilisés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024128"/>
            <a:ext cx="1554480" cy="475488"/>
          </a:xfrm>
          <a:prstGeom prst="rect">
            <a:avLst/>
          </a:prstGeom>
          <a:solidFill>
            <a:srgbClr val="4A5C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691640" y="1188720"/>
            <a:ext cx="301752" cy="137160"/>
          </a:xfrm>
          <a:prstGeom prst="rect">
            <a:avLst/>
          </a:prstGeom>
          <a:solidFill>
            <a:srgbClr val="4A5C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74320" y="102412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1554480" cy="2633472"/>
          </a:xfrm>
          <a:prstGeom prst="rect">
            <a:avLst/>
          </a:prstGeom>
          <a:solidFill>
            <a:srgbClr val="FFFFFF"/>
          </a:solidFill>
          <a:ln w="19050">
            <a:solidFill>
              <a:srgbClr val="4A5C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1664208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2377440"/>
            <a:ext cx="1371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illimité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+ résultats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93392" y="1024128"/>
            <a:ext cx="1554480" cy="475488"/>
          </a:xfrm>
          <a:prstGeom prst="rect">
            <a:avLst/>
          </a:prstGeom>
          <a:solidFill>
            <a:srgbClr val="3D4A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410712" y="1188720"/>
            <a:ext cx="301752" cy="137160"/>
          </a:xfrm>
          <a:prstGeom prst="rect">
            <a:avLst/>
          </a:prstGeom>
          <a:solidFill>
            <a:srgbClr val="3D4A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993392" y="102412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993392" y="1600200"/>
            <a:ext cx="1554480" cy="2633472"/>
          </a:xfrm>
          <a:prstGeom prst="rect">
            <a:avLst/>
          </a:prstGeom>
          <a:solidFill>
            <a:srgbClr val="FFFFFF"/>
          </a:solidFill>
          <a:ln w="19050">
            <a:solidFill>
              <a:srgbClr val="3D4A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1993392" y="1664208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084832" y="2377440"/>
            <a:ext cx="1371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ec2-s3-access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AmazonS3FullAccess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moindre privilège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12464" y="1024128"/>
            <a:ext cx="1554480" cy="475488"/>
          </a:xfrm>
          <a:prstGeom prst="rect">
            <a:avLst/>
          </a:prstGeom>
          <a:solidFill>
            <a:srgbClr val="5A6B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5129784" y="1188720"/>
            <a:ext cx="301752" cy="137160"/>
          </a:xfrm>
          <a:prstGeom prst="rect">
            <a:avLst/>
          </a:prstGeom>
          <a:solidFill>
            <a:srgbClr val="5A6B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712464" y="102412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12464" y="1600200"/>
            <a:ext cx="1554480" cy="2633472"/>
          </a:xfrm>
          <a:prstGeom prst="rect">
            <a:avLst/>
          </a:prstGeom>
          <a:solidFill>
            <a:srgbClr val="FFFFFF"/>
          </a:solidFill>
          <a:ln w="19050">
            <a:solidFill>
              <a:srgbClr val="5A6B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712464" y="1664208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803904" y="2377440"/>
            <a:ext cx="1371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Linux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22.04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t3.small — 20 Go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31536" y="1024128"/>
            <a:ext cx="1554480" cy="475488"/>
          </a:xfrm>
          <a:prstGeom prst="rect">
            <a:avLst/>
          </a:prstGeom>
          <a:solidFill>
            <a:srgbClr val="6B1C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6848856" y="1188720"/>
            <a:ext cx="301752" cy="137160"/>
          </a:xfrm>
          <a:prstGeom prst="rect">
            <a:avLst/>
          </a:prstGeom>
          <a:solidFill>
            <a:srgbClr val="6B1C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431536" y="102412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31536" y="1600200"/>
            <a:ext cx="1554480" cy="2633472"/>
          </a:xfrm>
          <a:prstGeom prst="rect">
            <a:avLst/>
          </a:prstGeom>
          <a:solidFill>
            <a:srgbClr val="FFFFFF"/>
          </a:solidFill>
          <a:ln w="19050">
            <a:solidFill>
              <a:srgbClr val="6B1C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431536" y="1664208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5522976" y="2377440"/>
            <a:ext cx="1371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distribué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Jobs/Stages/Tasks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port :4040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150608" y="1024128"/>
            <a:ext cx="1554480" cy="475488"/>
          </a:xfrm>
          <a:prstGeom prst="rect">
            <a:avLst/>
          </a:prstGeom>
          <a:solidFill>
            <a:srgbClr val="8B22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8567928" y="1188720"/>
            <a:ext cx="301752" cy="137160"/>
          </a:xfrm>
          <a:prstGeom prst="rect">
            <a:avLst/>
          </a:prstGeom>
          <a:solidFill>
            <a:srgbClr val="8B22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7150608" y="102412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150608" y="1600200"/>
            <a:ext cx="1554480" cy="2633472"/>
          </a:xfrm>
          <a:prstGeom prst="rect">
            <a:avLst/>
          </a:prstGeom>
          <a:solidFill>
            <a:srgbClr val="FFFFFF"/>
          </a:solidFill>
          <a:ln w="19050">
            <a:solidFill>
              <a:srgbClr val="8B22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7150608" y="1664208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7242048" y="2377440"/>
            <a:ext cx="1371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Python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piloter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3D4A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🍋  🍎  🍊  🍇  🍒  🥭  🍐  🍌  </a:t>
            </a:r>
            <a:endParaRPr lang="en-US" sz="2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2286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</a:rPr>
              <a:t>&gt;&gt;&gt;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64592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B1C1C"/>
                </a:solidFill>
              </a:rPr>
              <a:t>Architecture — comment les services s'interconnectent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914400"/>
            <a:ext cx="2377440" cy="777240"/>
          </a:xfrm>
          <a:prstGeom prst="rect">
            <a:avLst/>
          </a:prstGeom>
          <a:solidFill>
            <a:srgbClr val="D4622A"/>
          </a:solidFill>
          <a:ln w="19050">
            <a:solidFill>
              <a:srgbClr val="D46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83280" y="93268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IAM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29844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rôle ec2-s3-access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20240"/>
            <a:ext cx="265176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920240"/>
            <a:ext cx="2651760" cy="384048"/>
          </a:xfrm>
          <a:prstGeom prst="rect">
            <a:avLst/>
          </a:prstGeom>
          <a:solidFill>
            <a:srgbClr val="2E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193852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S3 bucket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395728"/>
            <a:ext cx="2377440" cy="438912"/>
          </a:xfrm>
          <a:prstGeom prst="rect">
            <a:avLst/>
          </a:prstGeom>
          <a:solidFill>
            <a:srgbClr val="E8EC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46888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Data/Training/ (131 cat.)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944368"/>
            <a:ext cx="2377440" cy="438912"/>
          </a:xfrm>
          <a:prstGeom prst="rect">
            <a:avLst/>
          </a:prstGeom>
          <a:solidFill>
            <a:srgbClr val="E8EC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01752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Outputs/ (CSV + PNG)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493008"/>
            <a:ext cx="2377440" cy="438912"/>
          </a:xfrm>
          <a:prstGeom prst="rect">
            <a:avLst/>
          </a:prstGeom>
          <a:solidFill>
            <a:srgbClr val="E8EC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5661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Notebooks/ (.ipynb)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920240"/>
            <a:ext cx="265176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1920240"/>
            <a:ext cx="265176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193852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EC2 (t3.small)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2395728"/>
            <a:ext cx="2377440" cy="804672"/>
          </a:xfrm>
          <a:prstGeom prst="rect">
            <a:avLst/>
          </a:prstGeom>
          <a:solidFill>
            <a:srgbClr val="E8ECF2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241401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D4A22"/>
                </a:solidFill>
              </a:rPr>
              <a:t>Apache Spark 3.3.2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72491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</a:rPr>
              <a:t>Moteur distribué — UI :4040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3291840"/>
            <a:ext cx="2377440" cy="868680"/>
          </a:xfrm>
          <a:prstGeom prst="rect">
            <a:avLst/>
          </a:prstGeom>
          <a:solidFill>
            <a:srgbClr val="EAF3DE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33101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D4A22"/>
                </a:solidFill>
              </a:rPr>
              <a:t>PySpark (Python API)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62102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</a:rPr>
              <a:t>MobileNet • Scaler • PCA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4041648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0" y="409651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</a:rPr>
              <a:t>💻  Local — AWS CLI + SSH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99232" y="233172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E5BA8"/>
                </a:solidFill>
              </a:rPr>
              <a:t>lire images 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99232" y="299923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6A34A"/>
                </a:solidFill>
              </a:rPr>
              <a:t>← écrire résultats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363931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</a:rPr>
              <a:t>upload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63931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</a:rPr>
              <a:t>SSH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144475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4622A"/>
                </a:solidFill>
              </a:rPr>
              <a:t>droits accès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144475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4622A"/>
                </a:solidFill>
              </a:rPr>
              <a:t>droits SSH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C5F8632-6CB4-ABB7-4116-FC4E0D2D6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06494"/>
            <a:ext cx="8730532" cy="43724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E8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365760"/>
            <a:ext cx="1645920" cy="1645920"/>
          </a:xfrm>
          <a:prstGeom prst="ellipse">
            <a:avLst/>
          </a:prstGeom>
          <a:solidFill>
            <a:srgbClr val="1A1A1A">
              <a:alpha val="15000"/>
            </a:srgbClr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046720" y="3840480"/>
            <a:ext cx="1463040" cy="1463040"/>
          </a:xfrm>
          <a:prstGeom prst="ellipse">
            <a:avLst/>
          </a:prstGeom>
          <a:solidFill>
            <a:srgbClr val="3D4A22">
              <a:alpha val="15000"/>
            </a:srgbClr>
          </a:solidFill>
          <a:ln w="19050">
            <a:solidFill>
              <a:srgbClr val="3D4A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RGPD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 explicite du projet : données stockées et traitées sur des serveurs situés en Europe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53312"/>
            <a:ext cx="41148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3D4A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1353312"/>
            <a:ext cx="4114800" cy="384048"/>
          </a:xfrm>
          <a:prstGeom prst="rect">
            <a:avLst/>
          </a:prstGeom>
          <a:solidFill>
            <a:srgbClr val="3D4A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4320" y="135331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Région européenne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792224"/>
            <a:ext cx="3895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eu-north-1 — Stockholm, Suède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données restent dans l'UE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353312"/>
            <a:ext cx="41148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3D4A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754880" y="1353312"/>
            <a:ext cx="4114800" cy="384048"/>
          </a:xfrm>
          <a:prstGeom prst="rect">
            <a:avLst/>
          </a:prstGeom>
          <a:solidFill>
            <a:srgbClr val="3D4A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754880" y="135331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Contrôle des accès (IAM)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64608" y="1792224"/>
            <a:ext cx="3895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dédié — principe du moindre privilège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accède uniquement à S3 via IAM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770632"/>
            <a:ext cx="41148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3D4A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274320" y="2770632"/>
            <a:ext cx="4114800" cy="384048"/>
          </a:xfrm>
          <a:prstGeom prst="rect">
            <a:avLst/>
          </a:prstGeom>
          <a:solidFill>
            <a:srgbClr val="3D4A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74320" y="27706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Données non personnelles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" y="3209544"/>
            <a:ext cx="3895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de fruits uniquement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donnée personnelle au sens RGPD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770632"/>
            <a:ext cx="41148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3D4A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754880" y="2770632"/>
            <a:ext cx="4114800" cy="384048"/>
          </a:xfrm>
          <a:prstGeom prst="rect">
            <a:avLst/>
          </a:prstGeom>
          <a:solidFill>
            <a:srgbClr val="3D4A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754880" y="27706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Traçabilité complète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64608" y="3209544"/>
            <a:ext cx="3895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UI : tous les jobs/stages loggés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vérifiables sur S3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E8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371600" cy="1371600"/>
          </a:xfrm>
          <a:prstGeom prst="ellipse">
            <a:avLst/>
          </a:prstGeom>
          <a:solidFill>
            <a:srgbClr val="6B1C1C">
              <a:alpha val="15000"/>
            </a:srgbClr>
          </a:solidFill>
          <a:ln w="19050">
            <a:solidFill>
              <a:srgbClr val="6B1C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229600" y="3931920"/>
            <a:ext cx="1280160" cy="1280160"/>
          </a:xfrm>
          <a:prstGeom prst="ellipse">
            <a:avLst/>
          </a:prstGeom>
          <a:solidFill>
            <a:srgbClr val="4A5C2A">
              <a:alpha val="25000"/>
            </a:srgbClr>
          </a:solidFill>
          <a:ln w="19050">
            <a:solidFill>
              <a:srgbClr val="4A5C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Configuration IAM &amp; EC2 — preuves AWS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8412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Rôle IAM — ec2-s3-access + AmazonS3FullAccess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9408" y="1088136"/>
            <a:ext cx="4114800" cy="3517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54880" y="8412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EC2 — sécurité : ports 22 (SSH) + 4040 (Spark UI)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0" y="4605448"/>
            <a:ext cx="8595360" cy="530352"/>
          </a:xfrm>
          <a:prstGeom prst="rect">
            <a:avLst/>
          </a:prstGeom>
          <a:solidFill>
            <a:srgbClr val="3D4A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137160" y="4579941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port 4040 ouvert permet d'accéder au Spark UI depuis le navigateur pendant l'exécution du pipeline</a:t>
            </a:r>
            <a:endParaRPr lang="en-US" sz="1100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271A4089-720B-4BA8-1BA8-D7032FAF3B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6437" y="1141076"/>
            <a:ext cx="5088156" cy="343886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E8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365760"/>
            <a:ext cx="1645920" cy="1645920"/>
          </a:xfrm>
          <a:prstGeom prst="ellipse">
            <a:avLst/>
          </a:prstGeom>
          <a:solidFill>
            <a:srgbClr val="1A1A1A">
              <a:alpha val="15000"/>
            </a:srgbClr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046720" y="3840480"/>
            <a:ext cx="1463040" cy="1463040"/>
          </a:xfrm>
          <a:prstGeom prst="ellipse">
            <a:avLst/>
          </a:prstGeom>
          <a:solidFill>
            <a:srgbClr val="3D4A22">
              <a:alpha val="15000"/>
            </a:srgbClr>
          </a:solidFill>
          <a:ln w="19050">
            <a:solidFill>
              <a:srgbClr val="3D4A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Stockage S3 — données et résultats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684143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Data/Training/ — 131 catégories uploadées via AWS CLI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74320" y="2720339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Outputs/ — résultats du pipeline  •  Notebooks/ — notebook uploadé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4686" y="3037463"/>
            <a:ext cx="4160520" cy="2051371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1999" y="3037463"/>
            <a:ext cx="4465983" cy="2051371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2B2811A8-E098-DB6A-5C49-F08C998829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1004183"/>
            <a:ext cx="7043530" cy="167335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0" dirty="0">
                <a:solidFill>
                  <a:srgbClr val="000000"/>
                </a:solidFill>
              </a:rPr>
              <a:t>🍇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-274320" y="-274320"/>
            <a:ext cx="1828800" cy="1828800"/>
          </a:xfrm>
          <a:prstGeom prst="ellipse">
            <a:avLst/>
          </a:prstGeom>
          <a:solidFill>
            <a:srgbClr val="FFFFFF">
              <a:alpha val="20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772400" y="3474720"/>
            <a:ext cx="1828800" cy="1828800"/>
          </a:xfrm>
          <a:prstGeom prst="ellipse">
            <a:avLst/>
          </a:prstGeom>
          <a:solidFill>
            <a:srgbClr val="4A5C2A">
              <a:alpha val="25000"/>
            </a:srgbClr>
          </a:solidFill>
          <a:ln w="19050">
            <a:solidFill>
              <a:srgbClr val="4A5C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Chaîne de traitement</a:t>
            </a:r>
            <a:endParaRPr lang="en-US" sz="5000" dirty="0"/>
          </a:p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images</a:t>
            </a:r>
            <a:endParaRPr lang="en-US" sz="5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E8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371600" cy="1371600"/>
          </a:xfrm>
          <a:prstGeom prst="ellipse">
            <a:avLst/>
          </a:prstGeom>
          <a:solidFill>
            <a:srgbClr val="6B1C1C">
              <a:alpha val="15000"/>
            </a:srgbClr>
          </a:solidFill>
          <a:ln w="19050">
            <a:solidFill>
              <a:srgbClr val="6B1C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229600" y="3931920"/>
            <a:ext cx="1280160" cy="1280160"/>
          </a:xfrm>
          <a:prstGeom prst="ellipse">
            <a:avLst/>
          </a:prstGeom>
          <a:solidFill>
            <a:srgbClr val="4A5C2A">
              <a:alpha val="25000"/>
            </a:srgbClr>
          </a:solidFill>
          <a:ln w="19050">
            <a:solidFill>
              <a:srgbClr val="4A5C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&gt;&gt;&gt;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0" y="164592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apport par rapport au notebook de l'alternant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393192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3931920" cy="41148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4320" y="914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l'alternant avait fait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417320"/>
            <a:ext cx="370332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Chargement images en binaryFile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Extraction features avec MobileNetV2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Broadcast des poids sur les workers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Pandas UDF pour distribuer l'inférence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Sauvegarde au format Parquet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Sans réduction de dimension PCA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0" y="914400"/>
            <a:ext cx="39319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4A5C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937760" y="914400"/>
            <a:ext cx="3931920" cy="411480"/>
          </a:xfrm>
          <a:prstGeom prst="rect">
            <a:avLst/>
          </a:prstGeom>
          <a:solidFill>
            <a:srgbClr val="4A5C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937760" y="914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j'ai ajouté ✅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74920" y="1417320"/>
            <a:ext cx="370332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StandardScaler PySpark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(normalisation moy=0, std=1)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PCA en PySpark natif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Recherche k optimal : 50 → 200 → 300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k = 284 pour 95% de variance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compression 72.3%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Déploiement AWS eu-north-1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DE8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365760"/>
            <a:ext cx="1645920" cy="1645920"/>
          </a:xfrm>
          <a:prstGeom prst="ellipse">
            <a:avLst/>
          </a:prstGeom>
          <a:solidFill>
            <a:srgbClr val="1A1A1A">
              <a:alpha val="15000"/>
            </a:srgbClr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046720" y="3840480"/>
            <a:ext cx="1463040" cy="1463040"/>
          </a:xfrm>
          <a:prstGeom prst="ellipse">
            <a:avLst/>
          </a:prstGeom>
          <a:solidFill>
            <a:srgbClr val="3D4A22">
              <a:alpha val="15000"/>
            </a:srgbClr>
          </a:solidFill>
          <a:ln w="19050">
            <a:solidFill>
              <a:srgbClr val="3D4A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clé pour la production — le broadcast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Déjà implémenté par l'alternant — important à comprendre pour le passage à l'échelle sur EMR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393192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D4622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3931920" cy="411480"/>
          </a:xfrm>
          <a:prstGeom prst="rect">
            <a:avLst/>
          </a:prstGeom>
          <a:solidFill>
            <a:srgbClr val="D462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4320" y="12344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Sans broadcast (lent)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719072"/>
            <a:ext cx="3703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worker doit recharger MobileNet (200 Mo) depuis le disque ou le réseau.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un cluster de 10 machines 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10 rechargements du modèle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Très lent, beaucoup de bande passante gaspillée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Risque de timeout ou d'erreur mémoire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0" y="1234440"/>
            <a:ext cx="393192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4A5C2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937760" y="1234440"/>
            <a:ext cx="3931920" cy="411480"/>
          </a:xfrm>
          <a:prstGeom prst="rect">
            <a:avLst/>
          </a:prstGeom>
          <a:solidFill>
            <a:srgbClr val="4A5C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937760" y="12344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Avec broadcast (rapide)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74920" y="1719072"/>
            <a:ext cx="3703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driver envoie les poids UNE SEULE FOIS à tous les workers.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worker reconstruit le modèle localement à partir des poids reçus.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un cluster de 10 machines 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 seul envoi des poids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Beaucoup plus rapide et économe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1E2030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11480" y="41148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brodcast_weights = sc.broadcast(new_model.get_weights())   # Driver → tous les workers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43708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new_model.set_weights(brodcast_weights.value)              # Dans chaque worker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E8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365760"/>
            <a:ext cx="1645920" cy="1645920"/>
          </a:xfrm>
          <a:prstGeom prst="ellipse">
            <a:avLst/>
          </a:prstGeom>
          <a:solidFill>
            <a:srgbClr val="1A1A1A">
              <a:alpha val="15000"/>
            </a:srgbClr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046720" y="3840480"/>
            <a:ext cx="1463040" cy="1463040"/>
          </a:xfrm>
          <a:prstGeom prst="ellipse">
            <a:avLst/>
          </a:prstGeom>
          <a:solidFill>
            <a:srgbClr val="3D4A22">
              <a:alpha val="15000"/>
            </a:srgbClr>
          </a:solidFill>
          <a:ln w="19050">
            <a:solidFill>
              <a:srgbClr val="3D4A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&gt;&gt;&gt;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0" y="164592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Traitements critiques au passage a l'echelle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CE1 - Identifier les goulots d'etranglement quand le volume de donnees explose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265176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D4622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2651760" cy="411480"/>
          </a:xfrm>
          <a:prstGeom prst="rect">
            <a:avLst/>
          </a:prstGeom>
          <a:solidFill>
            <a:srgbClr val="D462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74320" y="1188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Big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691640"/>
            <a:ext cx="23774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90 000 images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traitees sequentiellement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 (200 Mo)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rechargé pour chaque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d'images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Des heures de calcul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Plante si RAM saturee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Impossible a scaler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44368" y="24231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D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834640" y="299923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D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03320" y="1188720"/>
            <a:ext cx="516636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4A5C2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703320" y="1188720"/>
            <a:ext cx="5166360" cy="411480"/>
          </a:xfrm>
          <a:prstGeom prst="rect">
            <a:avLst/>
          </a:prstGeom>
          <a:solidFill>
            <a:srgbClr val="4A5C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703320" y="118872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PySpark — traitements distribues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94760" y="1691640"/>
            <a:ext cx="4983480" cy="960120"/>
          </a:xfrm>
          <a:prstGeom prst="rect">
            <a:avLst/>
          </a:prstGeom>
          <a:solidFill>
            <a:srgbClr val="F8F8F5"/>
          </a:solidFill>
          <a:ln w="12700">
            <a:solidFill>
              <a:srgbClr val="6B1C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794760" y="1691640"/>
            <a:ext cx="73152" cy="960120"/>
          </a:xfrm>
          <a:prstGeom prst="rect">
            <a:avLst/>
          </a:prstGeom>
          <a:solidFill>
            <a:srgbClr val="6B1C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931920" y="17282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des poids MobileNet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1920" y="201168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 : Critique : 200 Mo a envoyer a chaque worker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31920" y="221284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Poids envoyes UNE SEULE FOIS — chaque worker reconstruit le modele localement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94760" y="2770632"/>
            <a:ext cx="4983480" cy="960120"/>
          </a:xfrm>
          <a:prstGeom prst="rect">
            <a:avLst/>
          </a:prstGeom>
          <a:solidFill>
            <a:srgbClr val="F8F8F5"/>
          </a:solidFill>
          <a:ln w="12700">
            <a:solidFill>
              <a:srgbClr val="3D4A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794760" y="2770632"/>
            <a:ext cx="73152" cy="960120"/>
          </a:xfrm>
          <a:prstGeom prst="rect">
            <a:avLst/>
          </a:prstGeom>
          <a:solidFill>
            <a:srgbClr val="3D4A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931920" y="28072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UDF — inference distribuee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31920" y="309067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 : Critique : MobileNet sur 90 000 images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931920" y="32918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Spark decoupe en partitions — workers traitent en parallele via Pandas UDF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94760" y="3849624"/>
            <a:ext cx="4983480" cy="960120"/>
          </a:xfrm>
          <a:prstGeom prst="rect">
            <a:avLst/>
          </a:prstGeom>
          <a:solidFill>
            <a:srgbClr val="F8F8F5"/>
          </a:solidFill>
          <a:ln w="12700">
            <a:solidFill>
              <a:srgbClr val="4A5C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3794760" y="3849624"/>
            <a:ext cx="73152" cy="960120"/>
          </a:xfrm>
          <a:prstGeom prst="rect">
            <a:avLst/>
          </a:prstGeom>
          <a:solidFill>
            <a:srgbClr val="4A5C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931920" y="3886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natif PySpark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31920" y="416966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 : Critique : matrice 90 000 x 1024 en memoire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931920" y="43708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StandardScaler + PCA distribues — 1024 -&gt; 284 dims, jamais charges sur 1 machine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365760"/>
            <a:ext cx="1645920" cy="1645920"/>
          </a:xfrm>
          <a:prstGeom prst="ellipse">
            <a:avLst/>
          </a:prstGeom>
          <a:solidFill>
            <a:srgbClr val="1A1A1A">
              <a:alpha val="15000"/>
            </a:srgbClr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046720" y="3840480"/>
            <a:ext cx="1463040" cy="1463040"/>
          </a:xfrm>
          <a:prstGeom prst="ellipse">
            <a:avLst/>
          </a:prstGeom>
          <a:solidFill>
            <a:srgbClr val="3D4A22">
              <a:alpha val="15000"/>
            </a:srgbClr>
          </a:solidFill>
          <a:ln w="19050">
            <a:solidFill>
              <a:srgbClr val="3D4A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PySpark — les étapes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06040" cy="1719072"/>
          </a:xfrm>
          <a:prstGeom prst="rect">
            <a:avLst/>
          </a:prstGeom>
          <a:solidFill>
            <a:srgbClr val="FFFFFF"/>
          </a:solidFill>
          <a:ln w="25400">
            <a:solidFill>
              <a:srgbClr val="6B1C1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606040" cy="411480"/>
          </a:xfrm>
          <a:prstGeom prst="rect">
            <a:avLst/>
          </a:prstGeom>
          <a:solidFill>
            <a:srgbClr val="6B1C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🗄️  Lecture S3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481328"/>
            <a:ext cx="23865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binaryFile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JPG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repartition()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0" y="1901952"/>
            <a:ext cx="301752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27832" y="1005840"/>
            <a:ext cx="2606040" cy="1719072"/>
          </a:xfrm>
          <a:prstGeom prst="rect">
            <a:avLst/>
          </a:prstGeom>
          <a:solidFill>
            <a:srgbClr val="FFFFFF"/>
          </a:solidFill>
          <a:ln w="25400">
            <a:solidFill>
              <a:srgbClr val="3D4A2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27832" y="1005840"/>
            <a:ext cx="2606040" cy="411480"/>
          </a:xfrm>
          <a:prstGeom prst="rect">
            <a:avLst/>
          </a:prstGeom>
          <a:solidFill>
            <a:srgbClr val="3D4A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227832" y="10058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📡  Broadcast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1481328"/>
            <a:ext cx="23865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MobileNet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envoyés une fois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tous les workers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33872" y="1901952"/>
            <a:ext cx="301752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6135624" y="1005840"/>
            <a:ext cx="2606040" cy="1719072"/>
          </a:xfrm>
          <a:prstGeom prst="rect">
            <a:avLst/>
          </a:prstGeom>
          <a:solidFill>
            <a:srgbClr val="FFFFFF"/>
          </a:solidFill>
          <a:ln w="25400">
            <a:solidFill>
              <a:srgbClr val="4A5C2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6135624" y="1005840"/>
            <a:ext cx="2606040" cy="411480"/>
          </a:xfrm>
          <a:prstGeom prst="rect">
            <a:avLst/>
          </a:prstGeom>
          <a:solidFill>
            <a:srgbClr val="4A5C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135624" y="10058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🧠  MobileNet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+UDF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45352" y="1481328"/>
            <a:ext cx="23865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UDF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 features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image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944368"/>
            <a:ext cx="2606040" cy="1719072"/>
          </a:xfrm>
          <a:prstGeom prst="rect">
            <a:avLst/>
          </a:prstGeom>
          <a:solidFill>
            <a:srgbClr val="FFFFFF"/>
          </a:solidFill>
          <a:ln w="25400">
            <a:solidFill>
              <a:srgbClr val="6B1C1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20040" y="2944368"/>
            <a:ext cx="2606040" cy="411480"/>
          </a:xfrm>
          <a:prstGeom prst="rect">
            <a:avLst/>
          </a:prstGeom>
          <a:solidFill>
            <a:srgbClr val="6B1C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20040" y="29443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⚖️  Scaler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9768" y="3419856"/>
            <a:ext cx="23865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moy=0, std=1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926080" y="3840480"/>
            <a:ext cx="301752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3227832" y="2944368"/>
            <a:ext cx="2606040" cy="1719072"/>
          </a:xfrm>
          <a:prstGeom prst="rect">
            <a:avLst/>
          </a:prstGeom>
          <a:solidFill>
            <a:srgbClr val="FFFFFF"/>
          </a:solidFill>
          <a:ln w="25400">
            <a:solidFill>
              <a:srgbClr val="3D4A2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227832" y="2944368"/>
            <a:ext cx="2606040" cy="411480"/>
          </a:xfrm>
          <a:prstGeom prst="rect">
            <a:avLst/>
          </a:prstGeom>
          <a:solidFill>
            <a:srgbClr val="3D4A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227832" y="29443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📉  PCA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37560" y="3419856"/>
            <a:ext cx="23865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 → 284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variance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833872" y="3840480"/>
            <a:ext cx="301752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6135624" y="2944368"/>
            <a:ext cx="2606040" cy="1719072"/>
          </a:xfrm>
          <a:prstGeom prst="rect">
            <a:avLst/>
          </a:prstGeom>
          <a:solidFill>
            <a:srgbClr val="FFFFFF"/>
          </a:solidFill>
          <a:ln w="25400">
            <a:solidFill>
              <a:srgbClr val="4A5C2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6135624" y="2944368"/>
            <a:ext cx="2606040" cy="411480"/>
          </a:xfrm>
          <a:prstGeom prst="rect">
            <a:avLst/>
          </a:prstGeom>
          <a:solidFill>
            <a:srgbClr val="4A5C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6135624" y="29443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💾  Export S3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45352" y="3419856"/>
            <a:ext cx="23865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+ PNG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automatique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DE8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371600" cy="1371600"/>
          </a:xfrm>
          <a:prstGeom prst="ellipse">
            <a:avLst/>
          </a:prstGeom>
          <a:solidFill>
            <a:srgbClr val="6B1C1C">
              <a:alpha val="15000"/>
            </a:srgbClr>
          </a:solidFill>
          <a:ln w="19050">
            <a:solidFill>
              <a:srgbClr val="6B1C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229600" y="3931920"/>
            <a:ext cx="1280160" cy="1280160"/>
          </a:xfrm>
          <a:prstGeom prst="ellipse">
            <a:avLst/>
          </a:prstGeom>
          <a:solidFill>
            <a:srgbClr val="4A5C2A">
              <a:alpha val="25000"/>
            </a:srgbClr>
          </a:solidFill>
          <a:ln w="19050">
            <a:solidFill>
              <a:srgbClr val="4A5C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Extraits du notebook — code PySpark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595360" cy="256032"/>
          </a:xfrm>
          <a:prstGeom prst="rect">
            <a:avLst/>
          </a:prstGeom>
          <a:solidFill>
            <a:srgbClr val="3D4A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11480" y="88696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Pipeline PySpark — StandardScaler + PCA (mon ajout principal)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124712"/>
            <a:ext cx="8595360" cy="1325880"/>
          </a:xfrm>
          <a:prstGeom prst="rect">
            <a:avLst/>
          </a:prstGeom>
          <a:solidFill>
            <a:srgbClr val="1E2030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11480" y="116128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= StandardScaler(inputCol='features_raw', outputCol='features_scaled',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399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withMean=True, withStd=True)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60020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pca      = PCA(k=284, inputCol='features_scaled', outputCol='features_pca')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837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= Pipeline(stages=[scaler, pca])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07568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df_final = pipeline.fit(df_spark).transform(df_spark)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313432"/>
            <a:ext cx="8321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print('Pipeline terminé !')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578608"/>
            <a:ext cx="8595360" cy="256032"/>
          </a:xfrm>
          <a:prstGeom prst="rect">
            <a:avLst/>
          </a:prstGeom>
          <a:solidFill>
            <a:srgbClr val="3D4A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11480" y="2596896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Recherche du K optimal — démarche itérative k=50 → 200 → 300 → 284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8595360" cy="685800"/>
          </a:xfrm>
          <a:prstGeom prst="rect">
            <a:avLst/>
          </a:prstGeom>
          <a:solidFill>
            <a:srgbClr val="1E2030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11480" y="287121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k_optimal = int(np.argmax(variance_cumulee &gt;= 0.95)) + 1   # → 284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10896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print(f'Réduction : 1024 dims → {k_optimal} composantes — compression 72.3%')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657600"/>
            <a:ext cx="8595360" cy="256032"/>
          </a:xfrm>
          <a:prstGeom prst="rect">
            <a:avLst/>
          </a:prstGeom>
          <a:solidFill>
            <a:srgbClr val="3D4A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11480" y="367588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SparkSession en local — simule le cluster sur tous les cœurs du CPU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913632"/>
            <a:ext cx="8595360" cy="658368"/>
          </a:xfrm>
          <a:prstGeom prst="rect">
            <a:avLst/>
          </a:prstGeom>
          <a:solidFill>
            <a:srgbClr val="1E2030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11480" y="395020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 = SparkSession.builder.appName('Fruits_Preprocessing').master('local[*]')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.getOrCreate()    # local[*] = tous les cœurs disponibles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DE8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371600" cy="1371600"/>
          </a:xfrm>
          <a:prstGeom prst="ellipse">
            <a:avLst/>
          </a:prstGeom>
          <a:solidFill>
            <a:srgbClr val="6B1C1C">
              <a:alpha val="15000"/>
            </a:srgbClr>
          </a:solidFill>
          <a:ln w="19050">
            <a:solidFill>
              <a:srgbClr val="6B1C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229600" y="3931920"/>
            <a:ext cx="1280160" cy="1280160"/>
          </a:xfrm>
          <a:prstGeom prst="ellipse">
            <a:avLst/>
          </a:prstGeom>
          <a:solidFill>
            <a:srgbClr val="4A5C2A">
              <a:alpha val="25000"/>
            </a:srgbClr>
          </a:solidFill>
          <a:ln w="19050">
            <a:solidFill>
              <a:srgbClr val="4A5C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— Réduction de dimension (PCA)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 : k=50 (75%) → k=200 → k=300 → k optimal = 284 (95.38%)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1938528" cy="932688"/>
          </a:xfrm>
          <a:prstGeom prst="rect">
            <a:avLst/>
          </a:prstGeom>
          <a:solidFill>
            <a:srgbClr val="FFFFFF"/>
          </a:solidFill>
          <a:ln w="25400">
            <a:solidFill>
              <a:srgbClr val="6B1C1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1207008"/>
            <a:ext cx="1938528" cy="91440"/>
          </a:xfrm>
          <a:prstGeom prst="rect">
            <a:avLst/>
          </a:prstGeom>
          <a:solidFill>
            <a:srgbClr val="6B1C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4320" y="1316736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1316736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4320" y="1664208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MobileNet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50592" y="1207008"/>
            <a:ext cx="1938528" cy="932688"/>
          </a:xfrm>
          <a:prstGeom prst="rect">
            <a:avLst/>
          </a:prstGeom>
          <a:solidFill>
            <a:srgbClr val="FFFFFF"/>
          </a:solidFill>
          <a:ln w="25400">
            <a:solidFill>
              <a:srgbClr val="4A5C2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450592" y="1207008"/>
            <a:ext cx="1938528" cy="91440"/>
          </a:xfrm>
          <a:prstGeom prst="rect">
            <a:avLst/>
          </a:prstGeom>
          <a:solidFill>
            <a:srgbClr val="4A5C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450592" y="1316736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50592" y="1316736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50592" y="1664208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Composantes PCA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95% variance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26864" y="1207008"/>
            <a:ext cx="1938528" cy="932688"/>
          </a:xfrm>
          <a:prstGeom prst="rect">
            <a:avLst/>
          </a:prstGeom>
          <a:solidFill>
            <a:srgbClr val="FFFFFF"/>
          </a:solidFill>
          <a:ln w="25400">
            <a:solidFill>
              <a:srgbClr val="3D4A2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626864" y="1207008"/>
            <a:ext cx="1938528" cy="91440"/>
          </a:xfrm>
          <a:prstGeom prst="rect">
            <a:avLst/>
          </a:prstGeom>
          <a:solidFill>
            <a:srgbClr val="3D4A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626864" y="1316736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26864" y="1316736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D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72.3%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626864" y="1664208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données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03136" y="1207008"/>
            <a:ext cx="1938528" cy="932688"/>
          </a:xfrm>
          <a:prstGeom prst="rect">
            <a:avLst/>
          </a:prstGeom>
          <a:solidFill>
            <a:srgbClr val="FFFFFF"/>
          </a:solidFill>
          <a:ln w="25400">
            <a:solidFill>
              <a:srgbClr val="6B1C1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6803136" y="1207008"/>
            <a:ext cx="1938528" cy="91440"/>
          </a:xfrm>
          <a:prstGeom prst="rect">
            <a:avLst/>
          </a:prstGeom>
          <a:solidFill>
            <a:srgbClr val="6B1C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803136" y="1316736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803136" y="1316736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2389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803136" y="1664208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traitées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catégories)</a:t>
            </a:r>
            <a:endParaRPr lang="en-US" sz="100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2240280"/>
            <a:ext cx="8595360" cy="276148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0" dirty="0">
                <a:solidFill>
                  <a:srgbClr val="000000"/>
                </a:solidFill>
              </a:rPr>
              <a:t>🍒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-274320" y="-274320"/>
            <a:ext cx="1828800" cy="1828800"/>
          </a:xfrm>
          <a:prstGeom prst="ellipse">
            <a:avLst/>
          </a:prstGeom>
          <a:solidFill>
            <a:srgbClr val="FFFFFF">
              <a:alpha val="20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772400" y="3474720"/>
            <a:ext cx="1828800" cy="1828800"/>
          </a:xfrm>
          <a:prstGeom prst="ellipse">
            <a:avLst/>
          </a:prstGeom>
          <a:solidFill>
            <a:srgbClr val="4A5C2A">
              <a:alpha val="25000"/>
            </a:srgbClr>
          </a:solidFill>
          <a:ln w="19050">
            <a:solidFill>
              <a:srgbClr val="4A5C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Démonstration</a:t>
            </a:r>
            <a:endParaRPr lang="en-US" sz="5000" dirty="0"/>
          </a:p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cloud</a:t>
            </a:r>
            <a:endParaRPr lang="en-US" sz="5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DE8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371600" cy="1371600"/>
          </a:xfrm>
          <a:prstGeom prst="ellipse">
            <a:avLst/>
          </a:prstGeom>
          <a:solidFill>
            <a:srgbClr val="6B1C1C">
              <a:alpha val="15000"/>
            </a:srgbClr>
          </a:solidFill>
          <a:ln w="19050">
            <a:solidFill>
              <a:srgbClr val="6B1C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229600" y="3931920"/>
            <a:ext cx="1280160" cy="1280160"/>
          </a:xfrm>
          <a:prstGeom prst="ellipse">
            <a:avLst/>
          </a:prstGeom>
          <a:solidFill>
            <a:srgbClr val="4A5C2A">
              <a:alpha val="25000"/>
            </a:srgbClr>
          </a:solidFill>
          <a:ln w="19050">
            <a:solidFill>
              <a:srgbClr val="4A5C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Exécution sur EC2 — terminal SSH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SSH → lancement pipeline.py → Spark OK → MobileNet → PCA → résultats sur S3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115568"/>
            <a:ext cx="85953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DE8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365760"/>
            <a:ext cx="1645920" cy="1645920"/>
          </a:xfrm>
          <a:prstGeom prst="ellipse">
            <a:avLst/>
          </a:prstGeom>
          <a:solidFill>
            <a:srgbClr val="1A1A1A">
              <a:alpha val="15000"/>
            </a:srgbClr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046720" y="3840480"/>
            <a:ext cx="1463040" cy="1463040"/>
          </a:xfrm>
          <a:prstGeom prst="ellipse">
            <a:avLst/>
          </a:prstGeom>
          <a:solidFill>
            <a:srgbClr val="3D4A22">
              <a:alpha val="15000"/>
            </a:srgbClr>
          </a:solidFill>
          <a:ln w="19050">
            <a:solidFill>
              <a:srgbClr val="3D4A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Apache Spark UI — monitoring des jobs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sur http://IP:4040 — preuve concrète du calcul distribué en production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0" y="3317814"/>
            <a:ext cx="9144000" cy="1810512"/>
          </a:xfrm>
          <a:prstGeom prst="rect">
            <a:avLst/>
          </a:prstGeom>
          <a:solidFill>
            <a:srgbClr val="3D4A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5"/>
          <p:cNvSpPr/>
          <p:nvPr/>
        </p:nvSpPr>
        <p:spPr>
          <a:xfrm>
            <a:off x="-91440" y="428278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jobs complétés  ●  9 stages exécutés  ●  2 cores  ●  434 MiB mémoire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-91440" y="468657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→ PCA → RowMatrix — toutes les étapes distribuées par Apache Spark</a:t>
            </a:r>
            <a:endParaRPr lang="en-US" sz="1200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445E3C93-1DC0-E432-C598-379C14E95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56" y="1196180"/>
            <a:ext cx="9064487" cy="308660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0" dirty="0">
                <a:solidFill>
                  <a:srgbClr val="000000"/>
                </a:solidFill>
              </a:rPr>
              <a:t>🍋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-274320" y="-274320"/>
            <a:ext cx="1828800" cy="1828800"/>
          </a:xfrm>
          <a:prstGeom prst="ellipse">
            <a:avLst/>
          </a:prstGeom>
          <a:solidFill>
            <a:srgbClr val="FFFFFF">
              <a:alpha val="20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772400" y="3474720"/>
            <a:ext cx="1828800" cy="1828800"/>
          </a:xfrm>
          <a:prstGeom prst="ellipse">
            <a:avLst/>
          </a:prstGeom>
          <a:solidFill>
            <a:srgbClr val="4A5C2A">
              <a:alpha val="25000"/>
            </a:srgbClr>
          </a:solidFill>
          <a:ln w="19050">
            <a:solidFill>
              <a:srgbClr val="4A5C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Synthèse</a:t>
            </a:r>
            <a:endParaRPr lang="en-US" sz="5000" dirty="0"/>
          </a:p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conclusion</a:t>
            </a:r>
            <a:endParaRPr lang="en-US" sz="5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DE8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365760"/>
            <a:ext cx="1645920" cy="1645920"/>
          </a:xfrm>
          <a:prstGeom prst="ellipse">
            <a:avLst/>
          </a:prstGeom>
          <a:solidFill>
            <a:srgbClr val="1A1A1A">
              <a:alpha val="15000"/>
            </a:srgbClr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046720" y="3840480"/>
            <a:ext cx="1463040" cy="1463040"/>
          </a:xfrm>
          <a:prstGeom prst="ellipse">
            <a:avLst/>
          </a:prstGeom>
          <a:solidFill>
            <a:srgbClr val="3D4A22">
              <a:alpha val="15000"/>
            </a:srgbClr>
          </a:solidFill>
          <a:ln w="19050">
            <a:solidFill>
              <a:srgbClr val="3D4A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&gt;&gt;&gt;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0" y="164592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critique de la solution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633472" cy="3977640"/>
          </a:xfrm>
          <a:prstGeom prst="rect">
            <a:avLst/>
          </a:prstGeom>
          <a:solidFill>
            <a:srgbClr val="FFFFFF"/>
          </a:solidFill>
          <a:ln w="25400">
            <a:solidFill>
              <a:srgbClr val="4A5C2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2633472" cy="411480"/>
          </a:xfrm>
          <a:prstGeom prst="rect">
            <a:avLst/>
          </a:prstGeom>
          <a:solidFill>
            <a:srgbClr val="4A5C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Points forts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444752"/>
            <a:ext cx="245059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Scalabilité réelle : même code sur 1 machine ou cluster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S3 illimité — pas de limite de stockage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RGPD respecté : eu-north-1 Stockholm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Pipeline reproductible et modulaire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82112" y="960120"/>
            <a:ext cx="2633472" cy="3977640"/>
          </a:xfrm>
          <a:prstGeom prst="rect">
            <a:avLst/>
          </a:prstGeom>
          <a:solidFill>
            <a:srgbClr val="FFFFFF"/>
          </a:solidFill>
          <a:ln w="25400">
            <a:solidFill>
              <a:srgbClr val="D4622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182112" y="960120"/>
            <a:ext cx="2633472" cy="411480"/>
          </a:xfrm>
          <a:prstGeom prst="rect">
            <a:avLst/>
          </a:prstGeom>
          <a:solidFill>
            <a:srgbClr val="D462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182112" y="96012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Limites identifiées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73552" y="1444752"/>
            <a:ext cx="245059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EC2 seule — pas de vrai cluster multi-nœuds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MobileNet sans GPU — lent sur grand volume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Coût EC2 à maîtriser : facturation à la demande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k=50 en prod (démo) vs k=284 en local (optimal)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9904" y="960120"/>
            <a:ext cx="2633472" cy="3977640"/>
          </a:xfrm>
          <a:prstGeom prst="rect">
            <a:avLst/>
          </a:prstGeom>
          <a:solidFill>
            <a:srgbClr val="FFFFFF"/>
          </a:solidFill>
          <a:ln w="25400">
            <a:solidFill>
              <a:srgbClr val="3D4A2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6089904" y="960120"/>
            <a:ext cx="2633472" cy="411480"/>
          </a:xfrm>
          <a:prstGeom prst="rect">
            <a:avLst/>
          </a:prstGeom>
          <a:solidFill>
            <a:srgbClr val="3D4A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089904" y="96012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Recommandations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81344" y="1444752"/>
            <a:ext cx="245059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Passer à EMR (cluster multi-EC2) en production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Utiliser des instances GPU pour MobileNet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Arrêter EC2 après chaque session de test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Entraîner un modèle ML sur les 284 features PCA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365760"/>
            <a:ext cx="1645920" cy="1645920"/>
          </a:xfrm>
          <a:prstGeom prst="ellipse">
            <a:avLst/>
          </a:prstGeom>
          <a:solidFill>
            <a:srgbClr val="1A1A1A">
              <a:alpha val="15000"/>
            </a:srgbClr>
          </a:solidFill>
          <a:ln w="190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046720" y="3840480"/>
            <a:ext cx="1463040" cy="1463040"/>
          </a:xfrm>
          <a:prstGeom prst="ellipse">
            <a:avLst/>
          </a:prstGeom>
          <a:solidFill>
            <a:srgbClr val="3D4A22">
              <a:alpha val="15000"/>
            </a:srgbClr>
          </a:solidFill>
          <a:ln w="19050">
            <a:solidFill>
              <a:srgbClr val="3D4A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4389120" y="1005840"/>
            <a:ext cx="0" cy="324612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48640" y="10241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 Big Data 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481328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AWS : S3 + EC2 + IAM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Apache Spark + PySpark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RGPD : eu-north-1 Stockholm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Spark UI pour monitoring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02412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à l'échelle 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481328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S3 : stockage illimité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Même code : local → cloud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Migration EC2 → EMR sans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modifier le code PySpark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944368"/>
            <a:ext cx="8412480" cy="1261872"/>
          </a:xfrm>
          <a:prstGeom prst="rect">
            <a:avLst/>
          </a:prstGeom>
          <a:solidFill>
            <a:srgbClr val="3D4A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48640" y="29992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étape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364992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Entraîner un modèle de classification sur les 284 composantes PCA produites par le pipeline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3D4A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🍋  🍎  🍊  🍇  🍒  🥭  🍐  🍌  </a:t>
            </a:r>
            <a:endParaRPr lang="en-US" sz="2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F0C8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C8E0C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dirty="0">
                <a:solidFill>
                  <a:srgbClr val="000000"/>
                </a:solidFill>
              </a:rPr>
              <a:t>🍊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2011680" y="16459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🍋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🥝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754880" y="7315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754880" y="16002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D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754880" y="2286000"/>
            <a:ext cx="4023360" cy="36576"/>
          </a:xfrm>
          <a:prstGeom prst="rect">
            <a:avLst/>
          </a:prstGeom>
          <a:solidFill>
            <a:srgbClr val="3D4A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754880" y="24231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Haouzi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Saoussan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1739</Words>
  <Application>Microsoft Office PowerPoint</Application>
  <PresentationFormat>Affichage à l'écran (16:9)</PresentationFormat>
  <Paragraphs>346</Paragraphs>
  <Slides>27</Slides>
  <Notes>26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Souhaila El Haouzi</cp:lastModifiedBy>
  <cp:revision>3</cp:revision>
  <dcterms:created xsi:type="dcterms:W3CDTF">2026-03-22T23:49:55Z</dcterms:created>
  <dcterms:modified xsi:type="dcterms:W3CDTF">2026-03-23T01:44:30Z</dcterms:modified>
</cp:coreProperties>
</file>